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Canales Gamero" userId="5274e37dd4ef76d3" providerId="LiveId" clId="{F0E5FD19-4D93-481F-A594-CD4B76E8DDB0}"/>
    <pc:docChg chg="modSld">
      <pc:chgData name="Jose Canales Gamero" userId="5274e37dd4ef76d3" providerId="LiveId" clId="{F0E5FD19-4D93-481F-A594-CD4B76E8DDB0}" dt="2026-09-25T01:07:07.352" v="4"/>
      <pc:docMkLst>
        <pc:docMk/>
      </pc:docMkLst>
      <pc:sldChg chg="modSp mod">
        <pc:chgData name="Jose Canales Gamero" userId="5274e37dd4ef76d3" providerId="LiveId" clId="{F0E5FD19-4D93-481F-A594-CD4B76E8DDB0}" dt="2026-09-24T02:47:33.061" v="3" actId="1076"/>
        <pc:sldMkLst>
          <pc:docMk/>
          <pc:sldMk cId="0" sldId="262"/>
        </pc:sldMkLst>
        <pc:spChg chg="mod">
          <ac:chgData name="Jose Canales Gamero" userId="5274e37dd4ef76d3" providerId="LiveId" clId="{F0E5FD19-4D93-481F-A594-CD4B76E8DDB0}" dt="2026-09-24T02:46:19.286" v="1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ose Canales Gamero" userId="5274e37dd4ef76d3" providerId="LiveId" clId="{F0E5FD19-4D93-481F-A594-CD4B76E8DDB0}" dt="2026-09-24T02:47:33.061" v="3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Jose Canales Gamero" userId="5274e37dd4ef76d3" providerId="LiveId" clId="{F0E5FD19-4D93-481F-A594-CD4B76E8DDB0}" dt="2026-09-24T02:46:23.653" v="2" actId="1076"/>
          <ac:spMkLst>
            <pc:docMk/>
            <pc:sldMk cId="0" sldId="262"/>
            <ac:spMk id="26" creationId="{00000000-0000-0000-0000-000000000000}"/>
          </ac:spMkLst>
        </pc:spChg>
      </pc:sldChg>
      <pc:sldChg chg="modSp mod">
        <pc:chgData name="Jose Canales Gamero" userId="5274e37dd4ef76d3" providerId="LiveId" clId="{F0E5FD19-4D93-481F-A594-CD4B76E8DDB0}" dt="2026-09-25T01:07:07.352" v="4"/>
        <pc:sldMkLst>
          <pc:docMk/>
          <pc:sldMk cId="0" sldId="263"/>
        </pc:sldMkLst>
        <pc:spChg chg="mod">
          <ac:chgData name="Jose Canales Gamero" userId="5274e37dd4ef76d3" providerId="LiveId" clId="{F0E5FD19-4D93-481F-A594-CD4B76E8DDB0}" dt="2026-09-25T01:07:07.352" v="4"/>
          <ac:spMkLst>
            <pc:docMk/>
            <pc:sldMk cId="0" sldId="263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86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30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DF1B3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FF5F7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· PROGRAMACIÓN WEB 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8686800" cy="1005840"/>
          </a:xfrm>
          <a:prstGeom prst="roundRect">
            <a:avLst>
              <a:gd name="adj" fmla="val 7273"/>
            </a:avLst>
          </a:prstGeom>
          <a:solidFill>
            <a:srgbClr val="6E1330"/>
          </a:solidFill>
          <a:ln w="15875">
            <a:solidFill>
              <a:srgbClr val="B23A5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3000" b="1" i="1">
                <a:solidFill>
                  <a:srgbClr val="FFD9E0"/>
                </a:solidFill>
                <a:latin typeface="Cambria"/>
              </a:rPr>
              <a:t>Personal Library / Book Tracker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6E1330"/>
          </a:solidFill>
          <a:ln w="15875">
            <a:solidFill>
              <a:srgbClr val="B23A54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51560" y="3017520"/>
            <a:ext cx="7406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5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Andrea Nicolle Guevara, Carlos Humberto Mejia, Jose Antonio Canales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Web Application Development 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09760" y="4297680"/>
            <a:ext cx="1463040" cy="14630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325" y="4473245"/>
            <a:ext cx="1111910" cy="1111910"/>
          </a:xfrm>
          <a:prstGeom prst="rect">
            <a:avLst/>
          </a:prstGeom>
        </p:spPr>
      </p:pic>
      <p:pic>
        <p:nvPicPr>
          <p:cNvPr id="12" name="Image 1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58134"/>
            <a:ext cx="1188720" cy="3255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1188720" cy="11887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86" y="965606"/>
            <a:ext cx="903427" cy="903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28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3931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3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investigation starts with a question, not an answer.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5897880"/>
            <a:ext cx="2286000" cy="365760"/>
          </a:xfrm>
          <a:prstGeom prst="roundRect">
            <a:avLst>
              <a:gd name="adj" fmla="val 45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5897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Andrea Nicolle Guevara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17720" y="777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real problem does your project solve?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617720" y="1508760"/>
            <a:ext cx="6720840" cy="1737360"/>
          </a:xfrm>
          <a:prstGeom prst="roundRect">
            <a:avLst>
              <a:gd name="adj" fmla="val 4211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92040" y="1709928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6B6B6B"/>
                </a:solidFill>
                <a:latin typeface="Calibri"/>
              </a:rPr>
              <a:t>Daily situation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92040" y="2103120"/>
            <a:ext cx="6172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300" i="1" dirty="0">
                <a:solidFill>
                  <a:srgbClr val="AFAFAF"/>
                </a:solidFill>
                <a:latin typeface="Calibri"/>
              </a:rPr>
              <a:t>Readers often have books in different stages: books they want to read, books they are currently reading, and books they have already finished. Without a personal tracker, it can be difficult to remember progress, organize genres, and review completed books.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3429000"/>
            <a:ext cx="6720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76200" dist="25400" dir="5400000" algn="bl" rotWithShape="0">
              <a:srgbClr val="4A0812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92040" y="358444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3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 QUESTION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46320" y="3931920"/>
            <a:ext cx="6263640" cy="1051560"/>
          </a:xfrm>
          <a:prstGeom prst="roundRect">
            <a:avLst>
              <a:gd name="adj" fmla="val 6957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20640" y="4133088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 dirty="0">
                <a:solidFill>
                  <a:srgbClr val="6B6B6B"/>
                </a:solidFill>
                <a:latin typeface="Calibri"/>
              </a:rPr>
              <a:t>Our research question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4526280"/>
            <a:ext cx="571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400" i="1" dirty="0">
                <a:solidFill>
                  <a:srgbClr val="AFAFAF"/>
                </a:solidFill>
                <a:latin typeface="Calibri"/>
              </a:rPr>
              <a:t>"How might we help users organize their personal books, track reading progress, and record their experience in a simple web application?"</a:t>
            </a:r>
            <a:endParaRPr lang="en-US" sz="1100" dirty="0"/>
          </a:p>
        </p:txBody>
      </p:sp>
      <p:pic>
        <p:nvPicPr>
          <p:cNvPr id="19" name="Image 1" descr="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45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Carlos Humberto Mejia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286000"/>
            <a:ext cx="548640" cy="5486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7" y="2351837"/>
            <a:ext cx="416966" cy="41696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28800" y="2240280"/>
            <a:ext cx="3854196" cy="1417320"/>
          </a:xfrm>
          <a:prstGeom prst="roundRect">
            <a:avLst>
              <a:gd name="adj" fmla="val 5161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103120" y="2441448"/>
            <a:ext cx="3305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6B6B6B"/>
                </a:solidFill>
                <a:latin typeface="Calibri"/>
              </a:rPr>
              <a:t>Track reading progress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03120" y="2834640"/>
            <a:ext cx="33055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00" i="1" dirty="0">
                <a:solidFill>
                  <a:srgbClr val="AFAFAF"/>
                </a:solidFill>
                <a:latin typeface="Calibri"/>
              </a:rPr>
              <a:t>Show the current page and total pages visually for books in the “Reading” state.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1636" y="201168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05956" y="2286000"/>
            <a:ext cx="548640" cy="5486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793" y="2351837"/>
            <a:ext cx="416966" cy="41696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237476" y="2240280"/>
            <a:ext cx="3854196" cy="1417320"/>
          </a:xfrm>
          <a:prstGeom prst="roundRect">
            <a:avLst>
              <a:gd name="adj" fmla="val 5161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511796" y="2441448"/>
            <a:ext cx="3305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6B6B6B"/>
                </a:solidFill>
                <a:latin typeface="Calibri"/>
              </a:rPr>
              <a:t>Manage book status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511796" y="2834640"/>
            <a:ext cx="33055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00" i="1">
                <a:solidFill>
                  <a:srgbClr val="AFAFAF"/>
                </a:solidFill>
                <a:latin typeface="Calibri"/>
              </a:rPr>
              <a:t>Allow users to move a book through “To Read”, “Reading”, and “Finished” states.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" y="416052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097280" y="4434840"/>
            <a:ext cx="548640" cy="5486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17" y="4500677"/>
            <a:ext cx="416966" cy="41696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828800" y="4389120"/>
            <a:ext cx="3854196" cy="1417320"/>
          </a:xfrm>
          <a:prstGeom prst="roundRect">
            <a:avLst>
              <a:gd name="adj" fmla="val 5161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2103120" y="4590288"/>
            <a:ext cx="3305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6B6B6B"/>
                </a:solidFill>
                <a:latin typeface="Calibri"/>
              </a:rPr>
              <a:t>Record completed books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103120" y="4983480"/>
            <a:ext cx="33055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00" i="1">
                <a:solidFill>
                  <a:srgbClr val="AFAFAF"/>
                </a:solidFill>
                <a:latin typeface="Calibri"/>
              </a:rPr>
              <a:t>Enable a 1–5 star rating and an optional personal review only when a book is finished.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31636" y="4160520"/>
            <a:ext cx="513435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505956" y="4434840"/>
            <a:ext cx="548640" cy="5486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793" y="4500677"/>
            <a:ext cx="416966" cy="41696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237476" y="4389120"/>
            <a:ext cx="3854196" cy="1417320"/>
          </a:xfrm>
          <a:prstGeom prst="roundRect">
            <a:avLst>
              <a:gd name="adj" fmla="val 5161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7511796" y="4590288"/>
            <a:ext cx="3305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6B6B6B"/>
                </a:solidFill>
                <a:latin typeface="Calibri"/>
              </a:rPr>
              <a:t>Filter and analyze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511796" y="4983480"/>
            <a:ext cx="33055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00" i="1">
                <a:solidFill>
                  <a:srgbClr val="AFAFAF"/>
                </a:solidFill>
                <a:latin typeface="Calibri"/>
              </a:rPr>
              <a:t>Filter books by status and genre, while showing statistics such as finished books and most-read genre.</a:t>
            </a:r>
            <a:endParaRPr lang="en-US" sz="1100" dirty="0"/>
          </a:p>
        </p:txBody>
      </p:sp>
      <p:pic>
        <p:nvPicPr>
          <p:cNvPr id="30" name="Image 4" descr="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Knowledge — Our Tech Stack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knew how to do, and how we used it in this project.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45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Jose Antonio Canales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24300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72209" y="2331720"/>
            <a:ext cx="731520" cy="73152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91" y="2419502"/>
            <a:ext cx="555955" cy="5559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3520440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AFAFAF"/>
                </a:solidFill>
                <a:latin typeface="Calibri"/>
              </a:rPr>
              <a:t>We used interfaces and types to define each book and keep form data consistent.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27298" y="2103120"/>
            <a:ext cx="24300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76547" y="2331720"/>
            <a:ext cx="731520" cy="7315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329" y="2419502"/>
            <a:ext cx="555955" cy="55595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64458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64458" y="3520440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AFAFAF"/>
                </a:solidFill>
                <a:latin typeface="Calibri"/>
              </a:rPr>
              <a:t>We built reusable components and used state for books, filters, and forms.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31636" y="2103120"/>
            <a:ext cx="24300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080885" y="2331720"/>
            <a:ext cx="731520" cy="73152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icon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667" y="2419502"/>
            <a:ext cx="555955" cy="5559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68796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68796" y="3520440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AFAFAF"/>
                </a:solidFill>
                <a:latin typeface="Calibri"/>
              </a:rPr>
              <a:t>We created the responsive layout, cards, forms, buttons, filters, and progress bars.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935974" y="2103120"/>
            <a:ext cx="24300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785223" y="2331720"/>
            <a:ext cx="731520" cy="73152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sa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3005" y="2419502"/>
            <a:ext cx="555955" cy="55595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73134" y="315468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073134" y="3520440"/>
            <a:ext cx="21556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AFAFAF"/>
                </a:solidFill>
                <a:latin typeface="Calibri"/>
              </a:rPr>
              <a:t>We stored books in the browser so the data remains after refreshing the page.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1097280" y="45445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6B6B6B"/>
                </a:solidFill>
                <a:latin typeface="Calibri"/>
              </a:rPr>
              <a:t>What we already knew and what was new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097280" y="49377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00" i="1">
                <a:solidFill>
                  <a:srgbClr val="AFAFAF"/>
                </a:solidFill>
                <a:latin typeface="Calibri"/>
              </a:rPr>
              <a:t>"We already knew the basic React, TypeScript, and Tailwind concepts from class. The new challenge was combining them with LocalStorage, CRUD operations, filters, reading progress, and status-dependent fields in one complete application."</a:t>
            </a:r>
            <a:endParaRPr lang="en-US" sz="1100" dirty="0"/>
          </a:p>
        </p:txBody>
      </p:sp>
      <p:pic>
        <p:nvPicPr>
          <p:cNvPr id="30" name="Image 4" descr="logo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— Key Technical Decisions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 or 3 interesting decisions you made while building. Show a short code snippet if you can.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45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Andrea Nicolle Guevara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5111496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3000" y="2423160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505456"/>
            <a:ext cx="521208" cy="5212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43000" y="3291840"/>
            <a:ext cx="4471416" cy="1005840"/>
          </a:xfrm>
          <a:prstGeom prst="roundRect">
            <a:avLst>
              <a:gd name="adj" fmla="val 7273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417320" y="3493008"/>
            <a:ext cx="3922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 dirty="0">
                <a:solidFill>
                  <a:srgbClr val="6B6B6B"/>
                </a:solidFill>
                <a:latin typeface="Calibri"/>
              </a:rPr>
              <a:t>Technical decision #1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17320" y="3886200"/>
            <a:ext cx="3922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00" i="1" dirty="0">
                <a:solidFill>
                  <a:srgbClr val="AFAFAF"/>
                </a:solidFill>
                <a:latin typeface="Calibri"/>
              </a:rPr>
              <a:t>"We defined a Book interface with fields for title, author, genre, pages, </a:t>
            </a:r>
            <a:r>
              <a:rPr sz="1000" i="1" dirty="0" err="1">
                <a:solidFill>
                  <a:srgbClr val="AFAFAF"/>
                </a:solidFill>
                <a:latin typeface="Calibri"/>
              </a:rPr>
              <a:t>currentPage</a:t>
            </a:r>
            <a:r>
              <a:rPr sz="1000" i="1" dirty="0">
                <a:solidFill>
                  <a:srgbClr val="AFAFAF"/>
                </a:solidFill>
                <a:latin typeface="Calibri"/>
              </a:rPr>
              <a:t>, status, rating, review, and dates."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43000" y="4389120"/>
            <a:ext cx="4471416" cy="1234440"/>
          </a:xfrm>
          <a:prstGeom prst="roundRect">
            <a:avLst>
              <a:gd name="adj" fmla="val 4444"/>
            </a:avLst>
          </a:prstGeom>
          <a:solidFill>
            <a:srgbClr val="1E1A1C"/>
          </a:solidFill>
          <a:ln w="12700">
            <a:solidFill>
              <a:srgbClr val="402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25880" y="4389120"/>
            <a:ext cx="41056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800" i="1">
                <a:solidFill>
                  <a:srgbClr val="8A7A7E"/>
                </a:solidFill>
                <a:latin typeface="Courier New"/>
              </a:rPr>
              <a:t>interface Book {
  id: string;
  title: string;
  totalPages: number;
  currentPage: number;
  status: "To Read" | "Reading" | "Finished";
  rating?: number;
}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54496" y="2103120"/>
            <a:ext cx="5111496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63500" dist="25400" dir="5400000" algn="bl" rotWithShape="0">
              <a:srgbClr val="4A0812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574536" y="2423160"/>
            <a:ext cx="685800" cy="68580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505456"/>
            <a:ext cx="521208" cy="5212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74536" y="3291840"/>
            <a:ext cx="4471416" cy="1005840"/>
          </a:xfrm>
          <a:prstGeom prst="roundRect">
            <a:avLst>
              <a:gd name="adj" fmla="val 7273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48856" y="3493008"/>
            <a:ext cx="3922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6B6B6B"/>
                </a:solidFill>
                <a:latin typeface="Calibri"/>
              </a:rPr>
              <a:t>Technical decision #2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848856" y="3886200"/>
            <a:ext cx="3922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000" i="1">
                <a:solidFill>
                  <a:srgbClr val="AFAFAF"/>
                </a:solidFill>
                <a:latin typeface="Calibri"/>
              </a:rPr>
              <a:t>"We used LocalStorage to persist the book list and JSON.stringify / JSON.parse to save and recover the data."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74536" y="4389120"/>
            <a:ext cx="4471416" cy="1234440"/>
          </a:xfrm>
          <a:prstGeom prst="roundRect">
            <a:avLst>
              <a:gd name="adj" fmla="val 4444"/>
            </a:avLst>
          </a:prstGeom>
          <a:solidFill>
            <a:srgbClr val="1E1A1C"/>
          </a:solidFill>
          <a:ln w="12700">
            <a:solidFill>
              <a:srgbClr val="402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757416" y="4389120"/>
            <a:ext cx="41056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800" i="1">
                <a:solidFill>
                  <a:srgbClr val="8A7A7E"/>
                </a:solidFill>
                <a:latin typeface="Courier New"/>
              </a:rPr>
              <a:t>localStorage.setItem(
  "books",
  JSON.stringify(books)
);
const saved = localStorage.getItem("books");</a:t>
            </a:r>
            <a:endParaRPr lang="en-US" sz="1000" dirty="0"/>
          </a:p>
        </p:txBody>
      </p:sp>
      <p:pic>
        <p:nvPicPr>
          <p:cNvPr id="23" name="Image 2" descr="logo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930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DF1B3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— 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0" y="594360"/>
            <a:ext cx="2286000" cy="365760"/>
          </a:xfrm>
          <a:prstGeom prst="roundRect">
            <a:avLst>
              <a:gd name="adj" fmla="val 45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0" y="594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Carlos Humberto Mejia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A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3000" y="2240280"/>
            <a:ext cx="822960" cy="82296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55" y="2339035"/>
            <a:ext cx="625450" cy="625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94560" y="2103120"/>
            <a:ext cx="8869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sz="1300" i="1">
                <a:solidFill>
                  <a:srgbClr val="FFFFFF"/>
                </a:solidFill>
                <a:latin typeface="Cambria"/>
              </a:rPr>
              <a:t>Live demo: we will create a book, view it in the list, edit its information, delete it, and refresh the page to prove that LocalStorage keeps the remaining data.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 w="12700">
            <a:solidFill>
              <a:srgbClr val="B23A5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484071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plus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881" y="4145890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14400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F3D6DA"/>
                </a:solidFill>
                <a:latin typeface="Calibri"/>
              </a:rPr>
              <a:t>✓ shown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968142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 w="12700">
            <a:solidFill>
              <a:srgbClr val="B23A5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629254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063" y="4145890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59582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059582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F3D6DA"/>
                </a:solidFill>
                <a:latin typeface="Calibri"/>
              </a:rPr>
              <a:t>✓ shown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113325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 w="12700">
            <a:solidFill>
              <a:srgbClr val="B23A5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774436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icons/penc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246" y="4145890"/>
            <a:ext cx="486461" cy="4864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04765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204765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F3D6DA"/>
                </a:solidFill>
                <a:latin typeface="Calibri"/>
              </a:rPr>
              <a:t>✓ shown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258507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 w="12700">
            <a:solidFill>
              <a:srgbClr val="B23A5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919618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icons/b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428" y="4145890"/>
            <a:ext cx="486461" cy="4864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49947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7349947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F3D6DA"/>
                </a:solidFill>
                <a:latin typeface="Calibri"/>
              </a:rPr>
              <a:t>✓ shown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9403690" y="3794760"/>
            <a:ext cx="1962302" cy="2194560"/>
          </a:xfrm>
          <a:prstGeom prst="roundRect">
            <a:avLst>
              <a:gd name="adj" fmla="val 4194"/>
            </a:avLst>
          </a:prstGeom>
          <a:solidFill>
            <a:srgbClr val="6E1330"/>
          </a:solidFill>
          <a:ln w="12700">
            <a:solidFill>
              <a:srgbClr val="B23A5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10064801" y="4069080"/>
            <a:ext cx="640080" cy="64008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1610" y="4145890"/>
            <a:ext cx="486461" cy="48646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495130" y="4846320"/>
            <a:ext cx="177942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→ data stays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9495130" y="5486400"/>
            <a:ext cx="17794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00" i="1">
                <a:solidFill>
                  <a:srgbClr val="F3D6DA"/>
                </a:solidFill>
                <a:latin typeface="Calibri"/>
              </a:rPr>
              <a:t>✓ shown</a:t>
            </a:r>
            <a:endParaRPr lang="en-US" sz="900" dirty="0"/>
          </a:p>
        </p:txBody>
      </p:sp>
      <p:pic>
        <p:nvPicPr>
          <p:cNvPr id="36" name="Image 6" descr="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6258134"/>
            <a:ext cx="1188720" cy="32554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0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144000" y="548640"/>
            <a:ext cx="2286000" cy="365760"/>
          </a:xfrm>
          <a:prstGeom prst="roundRect">
            <a:avLst>
              <a:gd name="adj" fmla="val 45000"/>
            </a:avLst>
          </a:prstGeom>
          <a:solidFill>
            <a:srgbClr val="FBE3E7"/>
          </a:solidFill>
          <a:ln w="12700">
            <a:solidFill>
              <a:srgbClr val="F3D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0" y="548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93061E"/>
                </a:solidFill>
                <a:latin typeface="Calibri"/>
              </a:rPr>
              <a:t>Presenter: Jose Antonio Canales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22677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350008"/>
            <a:ext cx="521208" cy="521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130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920240" y="2468880"/>
            <a:ext cx="9052560" cy="685800"/>
          </a:xfrm>
          <a:prstGeom prst="roundRect">
            <a:avLst>
              <a:gd name="adj" fmla="val 10667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94560" y="26700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21081" y="2801983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00" i="1" dirty="0">
                <a:solidFill>
                  <a:srgbClr val="AFAFAF"/>
                </a:solidFill>
                <a:latin typeface="Calibri"/>
              </a:rPr>
              <a:t>"We learned how to combine React, TypeScript, Tailwind CSS, and </a:t>
            </a:r>
            <a:r>
              <a:rPr sz="1200" i="1" dirty="0" err="1">
                <a:solidFill>
                  <a:srgbClr val="AFAFAF"/>
                </a:solidFill>
                <a:latin typeface="Calibri"/>
              </a:rPr>
              <a:t>LocalStorage</a:t>
            </a:r>
            <a:r>
              <a:rPr sz="1200" i="1" dirty="0">
                <a:solidFill>
                  <a:srgbClr val="AFAFAF"/>
                </a:solidFill>
                <a:latin typeface="Calibri"/>
              </a:rPr>
              <a:t> to build a complete CRUD application with persistent data."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33832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51560" y="36393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3721608"/>
            <a:ext cx="521208" cy="5212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3502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difficult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920240" y="3840480"/>
            <a:ext cx="9052560" cy="685800"/>
          </a:xfrm>
          <a:prstGeom prst="roundRect">
            <a:avLst>
              <a:gd name="adj" fmla="val 10667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194560" y="40416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011680" y="4177501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00" i="1" dirty="0">
                <a:solidFill>
                  <a:srgbClr val="AFAFAF"/>
                </a:solidFill>
                <a:latin typeface="Calibri"/>
              </a:rPr>
              <a:t>"The most difficult part was keeping progress, status changes, dates, filters, and completed-book fields synchronized."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2960" y="475488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D9DD"/>
            </a:solidFill>
            <a:prstDash val="solid"/>
          </a:ln>
          <a:effectLst>
            <a:outerShdw blurRad="50800" dist="25400" dir="5400000" algn="bl" rotWithShape="0">
              <a:srgbClr val="4A0812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051560" y="5010912"/>
            <a:ext cx="685800" cy="68580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icons/exp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" y="5093208"/>
            <a:ext cx="521208" cy="5212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20240" y="4873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improve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1920240" y="5212080"/>
            <a:ext cx="9052560" cy="685800"/>
          </a:xfrm>
          <a:prstGeom prst="roundRect">
            <a:avLst>
              <a:gd name="adj" fmla="val 10667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2194560" y="54132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2183674" y="5553347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00" i="1" dirty="0">
                <a:solidFill>
                  <a:srgbClr val="AFAFAF"/>
                </a:solidFill>
                <a:latin typeface="Calibri"/>
              </a:rPr>
              <a:t>"We would improve the interface, add more reading statistics, and make the progress and filtering experience even more interactive."</a:t>
            </a:r>
            <a:endParaRPr lang="en-US" sz="1100" dirty="0"/>
          </a:p>
        </p:txBody>
      </p:sp>
      <p:pic>
        <p:nvPicPr>
          <p:cNvPr id="27" name="Image 3" descr="logo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DF1B3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943661"/>
            <a:ext cx="764438" cy="764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30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Questions?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329184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BFBFB"/>
          </a:solidFill>
          <a:ln w="15875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7280" y="349300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6B6B6B"/>
                </a:solidFill>
                <a:latin typeface="Calibri"/>
              </a:rPr>
              <a:t>GitHub repository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3886200"/>
            <a:ext cx="9326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 i="1" dirty="0">
                <a:solidFill>
                  <a:srgbClr val="AFAFAF"/>
                </a:solidFill>
                <a:latin typeface="Calibri"/>
              </a:rPr>
              <a:t>GitHub: </a:t>
            </a:r>
            <a:r>
              <a:rPr lang="es-HN" sz="1100" i="1" dirty="0">
                <a:solidFill>
                  <a:srgbClr val="AFAFAF"/>
                </a:solidFill>
                <a:latin typeface="Calibri"/>
              </a:rPr>
              <a:t>https://github.com/Nicollezz/Gestion-Biblioteca.git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4434840"/>
            <a:ext cx="9875520" cy="1600200"/>
          </a:xfrm>
          <a:prstGeom prst="roundRect">
            <a:avLst>
              <a:gd name="adj" fmla="val 5714"/>
            </a:avLst>
          </a:prstGeom>
          <a:solidFill>
            <a:srgbClr val="930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43000" y="4754880"/>
            <a:ext cx="777240" cy="777240"/>
          </a:xfrm>
          <a:prstGeom prst="ellipse">
            <a:avLst/>
          </a:prstGeom>
          <a:solidFill>
            <a:srgbClr val="DF1B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269" y="4848149"/>
            <a:ext cx="590702" cy="5907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4617720"/>
            <a:ext cx="8366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sz="1400" i="1">
                <a:solidFill>
                  <a:srgbClr val="FFFFFF"/>
                </a:solidFill>
                <a:latin typeface="Cambria"/>
              </a:rPr>
              <a:t>"We are proud of turning the concepts learned in Web Application Development I into a useful application that solves a real everyday problem."</a:t>
            </a:r>
            <a:endParaRPr lang="en-US" sz="1400" dirty="0"/>
          </a:p>
        </p:txBody>
      </p:sp>
      <p:pic>
        <p:nvPicPr>
          <p:cNvPr id="14" name="Image 2" descr="logo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6257500"/>
            <a:ext cx="1188720" cy="326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763</Words>
  <Application>Microsoft Office PowerPoint</Application>
  <PresentationFormat>Panorámica</PresentationFormat>
  <Paragraphs>93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Canales Gamero</cp:lastModifiedBy>
  <cp:revision>3</cp:revision>
  <dcterms:created xsi:type="dcterms:W3CDTF">2026-08-20T22:55:27Z</dcterms:created>
  <dcterms:modified xsi:type="dcterms:W3CDTF">2026-09-25T01:07:15Z</dcterms:modified>
</cp:coreProperties>
</file>